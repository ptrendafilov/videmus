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1" name="Google Shape;11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9" name="Google Shape;12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6" name="Google Shape;13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0" name="Google Shape;15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0" name="Google Shape;17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2" name="Google Shape;19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5" name="Google Shape;21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5" name="Google Shape;22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2" name="Google Shape;25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3" name="Google Shape;28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2" name="Google Shape;30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2" name="Google Shape;34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0" name="Google Shape;37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6" name="Google Shape;37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06" name="Google Shape;40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9" name="Google Shape;449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3" name="Google Shape;48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15" name="Google Shape;51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Trendafilov/Videmus/blob/main/model/Videmus_Traffic_Lights.ipynb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trendafilov.github.io/Videmus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8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2743" cy="5143500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914400" y="0"/>
            <a:ext cx="2743" cy="5143500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1828800" y="0"/>
            <a:ext cx="2743" cy="5143500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2743200" y="0"/>
            <a:ext cx="2743" cy="5143500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3657600" y="0"/>
            <a:ext cx="2743" cy="5143500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4572000" y="0"/>
            <a:ext cx="2743" cy="5143500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5486400" y="0"/>
            <a:ext cx="2743" cy="5143500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6400800" y="0"/>
            <a:ext cx="2743" cy="5143500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7315200" y="0"/>
            <a:ext cx="2743" cy="5143500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8229600" y="0"/>
            <a:ext cx="2743" cy="5143500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9144000" y="0"/>
            <a:ext cx="2743" cy="5143500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0" y="0"/>
            <a:ext cx="9144000" cy="2743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0" y="914400"/>
            <a:ext cx="9144000" cy="2743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/>
          <p:nvPr/>
        </p:nvSpPr>
        <p:spPr>
          <a:xfrm>
            <a:off x="0" y="1828800"/>
            <a:ext cx="9144000" cy="2743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0" y="2743200"/>
            <a:ext cx="9144000" cy="2743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/>
          <p:nvPr/>
        </p:nvSpPr>
        <p:spPr>
          <a:xfrm>
            <a:off x="0" y="3657600"/>
            <a:ext cx="9144000" cy="2743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/>
          <p:nvPr/>
        </p:nvSpPr>
        <p:spPr>
          <a:xfrm>
            <a:off x="0" y="4572000"/>
            <a:ext cx="9144000" cy="2743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13" descr="videmus_icon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86200" y="365760"/>
            <a:ext cx="137160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3"/>
          <p:cNvSpPr txBox="1"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lang="en-US" sz="5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VIDEMUS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We guide the driver.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3"/>
          <p:cNvSpPr/>
          <p:nvPr/>
        </p:nvSpPr>
        <p:spPr>
          <a:xfrm>
            <a:off x="3840480" y="3017520"/>
            <a:ext cx="1463040" cy="2743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B4C6DC"/>
                </a:solidFill>
                <a:latin typeface="Calibri"/>
                <a:ea typeface="Calibri"/>
                <a:cs typeface="Calibri"/>
                <a:sym typeface="Calibri"/>
              </a:rPr>
              <a:t>Plamen Trendafilov  |  TUM Management &amp; Data Science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B4C6DC"/>
                </a:solidFill>
                <a:latin typeface="Calibri"/>
                <a:ea typeface="Calibri"/>
                <a:cs typeface="Calibri"/>
                <a:sym typeface="Calibri"/>
              </a:rPr>
              <a:t>Ognyan Trendafilov  |  AUBG Economics &amp; Finance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ptrendafilov.github.io/Videmus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B4C6DC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3A8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640080" y="73152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Drivers need guidance.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640080" y="1463040"/>
            <a:ext cx="41148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Every day, drivers face moments of uncertainty. The result is devastating.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5687869" y="519642"/>
            <a:ext cx="2560320" cy="118872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5687869" y="656802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1.35M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5687869" y="1205442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road deaths / year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4"/>
          <p:cNvSpPr/>
          <p:nvPr/>
        </p:nvSpPr>
        <p:spPr>
          <a:xfrm>
            <a:off x="5651627" y="1959822"/>
            <a:ext cx="2560320" cy="118872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/>
        </p:nvSpPr>
        <p:spPr>
          <a:xfrm>
            <a:off x="5651627" y="2096982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90%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5651627" y="2645622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caused by human error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4"/>
          <p:cNvSpPr/>
          <p:nvPr/>
        </p:nvSpPr>
        <p:spPr>
          <a:xfrm>
            <a:off x="5687869" y="3476202"/>
            <a:ext cx="2560320" cy="118872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4"/>
          <p:cNvSpPr txBox="1"/>
          <p:nvPr/>
        </p:nvSpPr>
        <p:spPr>
          <a:xfrm>
            <a:off x="5687869" y="3613362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50M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4"/>
          <p:cNvSpPr txBox="1"/>
          <p:nvPr/>
        </p:nvSpPr>
        <p:spPr>
          <a:xfrm>
            <a:off x="5687869" y="4162002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injuries annually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p14" title="young-man-sitting-car-very-upset-stressed-after-hard-failure-moving-traffic-jam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5319" y="2438400"/>
            <a:ext cx="3627121" cy="2417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  <p:sp>
        <p:nvSpPr>
          <p:cNvPr id="132" name="Google Shape;132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3180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/>
          </a:p>
        </p:txBody>
      </p:sp>
      <p:pic>
        <p:nvPicPr>
          <p:cNvPr id="133" name="Google Shape;13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  <p:sp>
        <p:nvSpPr>
          <p:cNvPr id="139" name="Google Shape;139;p1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3180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/>
          </a:p>
        </p:txBody>
      </p:sp>
      <p:pic>
        <p:nvPicPr>
          <p:cNvPr id="140" name="Google Shape;14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  <p:sp>
        <p:nvSpPr>
          <p:cNvPr id="146" name="Google Shape;146;p1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3180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/>
          </a:p>
        </p:txBody>
      </p:sp>
      <p:pic>
        <p:nvPicPr>
          <p:cNvPr id="147" name="Google Shape;147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80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8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3A8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THE SOLUTION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8"/>
          <p:cNvSpPr txBox="1"/>
          <p:nvPr/>
        </p:nvSpPr>
        <p:spPr>
          <a:xfrm>
            <a:off x="640080" y="73152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Real-time AR driving guidance.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8"/>
          <p:cNvSpPr txBox="1"/>
          <p:nvPr/>
        </p:nvSpPr>
        <p:spPr>
          <a:xfrm>
            <a:off x="640080" y="146304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Videmus uses Computer Vision to observe the road in real time and project AR guidance overlays into the driver’s field of view. The driver stays in full control — we make them better, not replace them.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6230526" y="2743200"/>
            <a:ext cx="2560320" cy="201168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6230526" y="2743200"/>
            <a:ext cx="2560320" cy="36576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 txBox="1"/>
          <p:nvPr/>
        </p:nvSpPr>
        <p:spPr>
          <a:xfrm>
            <a:off x="6413406" y="29718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Parking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6413406" y="3383280"/>
            <a:ext cx="219456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AR arrows guide the car into tight spaces with precision.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3474720" y="2743200"/>
            <a:ext cx="2560320" cy="201168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3474720" y="2743200"/>
            <a:ext cx="2560320" cy="36576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3657600" y="29718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Road Safety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8"/>
          <p:cNvSpPr txBox="1"/>
          <p:nvPr/>
        </p:nvSpPr>
        <p:spPr>
          <a:xfrm>
            <a:off x="3657600" y="3383280"/>
            <a:ext cx="219456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Real-time detection warns the driver before a dangerous situation.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696608" y="2743200"/>
            <a:ext cx="2560320" cy="201168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696608" y="2743200"/>
            <a:ext cx="2560320" cy="36576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879488" y="29718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Traffic Navigation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879488" y="3383280"/>
            <a:ext cx="219456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system reads traffic lights and guides with AR overlays.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8A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9"/>
          <p:cNvSpPr txBox="1"/>
          <p:nvPr/>
        </p:nvSpPr>
        <p:spPr>
          <a:xfrm>
            <a:off x="640080" y="731520"/>
            <a:ext cx="77724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From camera to guidance.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1188720" y="1691640"/>
            <a:ext cx="2743" cy="36576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 txBox="1"/>
          <p:nvPr/>
        </p:nvSpPr>
        <p:spPr>
          <a:xfrm>
            <a:off x="1463040" y="16459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9"/>
          <p:cNvSpPr txBox="1"/>
          <p:nvPr/>
        </p:nvSpPr>
        <p:spPr>
          <a:xfrm>
            <a:off x="3474720" y="164592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B4C6DC"/>
                </a:solidFill>
                <a:latin typeface="Calibri"/>
                <a:ea typeface="Calibri"/>
                <a:cs typeface="Calibri"/>
                <a:sym typeface="Calibri"/>
              </a:rPr>
              <a:t>Surrounding environment is captured through a camera-equipped device, based availability and user convenience (phone, dashcam, etc.)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9"/>
          <p:cNvSpPr txBox="1"/>
          <p:nvPr/>
        </p:nvSpPr>
        <p:spPr>
          <a:xfrm>
            <a:off x="640080" y="24688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1188720" y="2514600"/>
            <a:ext cx="2743" cy="36576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1463040" y="246888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3474720" y="246888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B4C6DC"/>
                </a:solidFill>
                <a:latin typeface="Calibri"/>
                <a:ea typeface="Calibri"/>
                <a:cs typeface="Calibri"/>
                <a:sym typeface="Calibri"/>
              </a:rPr>
              <a:t>Video feed is processed by a Computer Vision model, which identifies road landmarks, such as traffic lights and various road signs</a:t>
            </a:r>
            <a:endParaRPr sz="1300" b="0" i="0" u="none" strike="noStrike" cap="none">
              <a:solidFill>
                <a:srgbClr val="B4C6D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9"/>
          <p:cNvSpPr txBox="1"/>
          <p:nvPr/>
        </p:nvSpPr>
        <p:spPr>
          <a:xfrm>
            <a:off x="640080" y="32918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1188720" y="3337560"/>
            <a:ext cx="2743" cy="36576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 txBox="1"/>
          <p:nvPr/>
        </p:nvSpPr>
        <p:spPr>
          <a:xfrm>
            <a:off x="1463040" y="32918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Analyze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3474720" y="329184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B4C6DC"/>
                </a:solidFill>
                <a:latin typeface="Calibri"/>
                <a:ea typeface="Calibri"/>
                <a:cs typeface="Calibri"/>
                <a:sym typeface="Calibri"/>
              </a:rPr>
              <a:t>The output passes through a decision layer, with the purpose of calculating optimal action and suggesting it to the driver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9"/>
          <p:cNvSpPr txBox="1"/>
          <p:nvPr/>
        </p:nvSpPr>
        <p:spPr>
          <a:xfrm>
            <a:off x="640080" y="4114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1188720" y="4160520"/>
            <a:ext cx="2743" cy="36576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 txBox="1"/>
          <p:nvPr/>
        </p:nvSpPr>
        <p:spPr>
          <a:xfrm>
            <a:off x="1463040" y="41148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Guide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9"/>
          <p:cNvSpPr txBox="1"/>
          <p:nvPr/>
        </p:nvSpPr>
        <p:spPr>
          <a:xfrm>
            <a:off x="3474720" y="411480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B4C6DC"/>
                </a:solidFill>
                <a:latin typeface="Calibri"/>
                <a:ea typeface="Calibri"/>
                <a:cs typeface="Calibri"/>
                <a:sym typeface="Calibri"/>
              </a:rPr>
              <a:t>An AR overlay is projected, showing visual guidance directly onto the driver’s field of view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3A8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PRINCIPLES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640080" y="73152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We value the safety of our users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457200" y="1645920"/>
            <a:ext cx="1965960" cy="310896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594360" y="233172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Safety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2606040" y="1645920"/>
            <a:ext cx="1965960" cy="310896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2743200" y="233172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Driver assistance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4754880" y="1645920"/>
            <a:ext cx="1965960" cy="310896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4892040" y="233172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Productive driving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6903720" y="1645920"/>
            <a:ext cx="1965960" cy="310896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7040880" y="233172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Transparency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594360" y="182880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594360" y="2895600"/>
            <a:ext cx="1691640" cy="1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Every design choice puts driver and pedestrian safety first, preventing accidents before they happen.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2743200" y="182880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2743200" y="2895600"/>
            <a:ext cx="1691640" cy="1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We enhance the human driver with AR guidance, never replacing their control or judgment behind the wheel.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4892040" y="182880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4892040" y="2895600"/>
            <a:ext cx="1691640" cy="1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Clear, real-time AR overlays help drivers make faster, smarter, and more confident decisions on the road.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7040880" y="182880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7040880" y="2895600"/>
            <a:ext cx="1691640" cy="1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Drivers see what the system detects, building trust through clear and honest communication.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3A8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DIFFERENTIATION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640080" y="73152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We coach. They replace.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578905" y="2254780"/>
            <a:ext cx="2600161" cy="1364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Videmus occupies a unique position: enhancing the human driver with modern technology rather than replacing them.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6137414" y="1729410"/>
            <a:ext cx="2489752" cy="1207604"/>
          </a:xfrm>
          <a:prstGeom prst="rect">
            <a:avLst/>
          </a:prstGeom>
          <a:gradFill>
            <a:gsLst>
              <a:gs pos="0">
                <a:srgbClr val="1D4ED8"/>
              </a:gs>
              <a:gs pos="40000">
                <a:srgbClr val="7996E7"/>
              </a:gs>
              <a:gs pos="100000">
                <a:srgbClr val="F4F8FB">
                  <a:alpha val="21960"/>
                </a:srgbClr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2" name="Google Shape;222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78305" y="1546920"/>
            <a:ext cx="5448100" cy="2965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3A8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GO-TO-MARKET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2"/>
          <p:cNvSpPr txBox="1"/>
          <p:nvPr/>
        </p:nvSpPr>
        <p:spPr>
          <a:xfrm>
            <a:off x="640080" y="73152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Start small. Scale smart.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457200" y="1645920"/>
            <a:ext cx="1536192" cy="310896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2"/>
          <p:cNvSpPr txBox="1"/>
          <p:nvPr/>
        </p:nvSpPr>
        <p:spPr>
          <a:xfrm>
            <a:off x="548640" y="1828800"/>
            <a:ext cx="135331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August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2"/>
          <p:cNvSpPr txBox="1"/>
          <p:nvPr/>
        </p:nvSpPr>
        <p:spPr>
          <a:xfrm>
            <a:off x="548640" y="2103120"/>
            <a:ext cx="13533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Training the model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2"/>
          <p:cNvSpPr txBox="1"/>
          <p:nvPr/>
        </p:nvSpPr>
        <p:spPr>
          <a:xfrm>
            <a:off x="548640" y="2606040"/>
            <a:ext cx="1353312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Develop and train CV models for traffic light, pedestrian, and parking detection.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2176272" y="1645920"/>
            <a:ext cx="1536192" cy="310896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2"/>
          <p:cNvSpPr txBox="1"/>
          <p:nvPr/>
        </p:nvSpPr>
        <p:spPr>
          <a:xfrm>
            <a:off x="2267712" y="1828800"/>
            <a:ext cx="135331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September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2"/>
          <p:cNvSpPr txBox="1"/>
          <p:nvPr/>
        </p:nvSpPr>
        <p:spPr>
          <a:xfrm>
            <a:off x="2267712" y="2103120"/>
            <a:ext cx="13533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Integrate models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2"/>
          <p:cNvSpPr txBox="1"/>
          <p:nvPr/>
        </p:nvSpPr>
        <p:spPr>
          <a:xfrm>
            <a:off x="2267712" y="2606040"/>
            <a:ext cx="1353312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Integrate models into a mobile application for real-time driving guidance.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3895344" y="1645920"/>
            <a:ext cx="1536192" cy="310896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3986784" y="1828800"/>
            <a:ext cx="135331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October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2"/>
          <p:cNvSpPr txBox="1"/>
          <p:nvPr/>
        </p:nvSpPr>
        <p:spPr>
          <a:xfrm>
            <a:off x="3986784" y="2103120"/>
            <a:ext cx="13533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Launch the MVP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2"/>
          <p:cNvSpPr txBox="1"/>
          <p:nvPr/>
        </p:nvSpPr>
        <p:spPr>
          <a:xfrm>
            <a:off x="3986784" y="2606040"/>
            <a:ext cx="1353312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Release the MVP to early adopters for real-world feedback.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5614416" y="1645920"/>
            <a:ext cx="1536192" cy="310896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5705856" y="1828800"/>
            <a:ext cx="135331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November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2"/>
          <p:cNvSpPr txBox="1"/>
          <p:nvPr/>
        </p:nvSpPr>
        <p:spPr>
          <a:xfrm>
            <a:off x="5705856" y="2103120"/>
            <a:ext cx="13533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Early testing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2"/>
          <p:cNvSpPr txBox="1"/>
          <p:nvPr/>
        </p:nvSpPr>
        <p:spPr>
          <a:xfrm>
            <a:off x="5705856" y="2606040"/>
            <a:ext cx="1353312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Partner with driving schools for testing and validation in controlled environments.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7333488" y="1645920"/>
            <a:ext cx="1536192" cy="310896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2"/>
          <p:cNvSpPr txBox="1"/>
          <p:nvPr/>
        </p:nvSpPr>
        <p:spPr>
          <a:xfrm>
            <a:off x="7424928" y="1828800"/>
            <a:ext cx="135331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December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2"/>
          <p:cNvSpPr txBox="1"/>
          <p:nvPr/>
        </p:nvSpPr>
        <p:spPr>
          <a:xfrm>
            <a:off x="7424928" y="2103120"/>
            <a:ext cx="13533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Product refinement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2"/>
          <p:cNvSpPr txBox="1"/>
          <p:nvPr/>
        </p:nvSpPr>
        <p:spPr>
          <a:xfrm>
            <a:off x="7424928" y="2606040"/>
            <a:ext cx="1353312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Train the model with the gained data. Improve the app interface from user feedback.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3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3A8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 txBox="1"/>
          <p:nvPr/>
        </p:nvSpPr>
        <p:spPr>
          <a:xfrm>
            <a:off x="640080" y="4114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BUSINESS MODEL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3"/>
          <p:cNvSpPr txBox="1"/>
          <p:nvPr/>
        </p:nvSpPr>
        <p:spPr>
          <a:xfrm>
            <a:off x="640080" y="73152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How do we monetize Videmus?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640080" y="1645920"/>
            <a:ext cx="3931920" cy="18288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640080" y="1645920"/>
            <a:ext cx="3931920" cy="36576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/>
          <p:cNvSpPr txBox="1"/>
          <p:nvPr/>
        </p:nvSpPr>
        <p:spPr>
          <a:xfrm>
            <a:off x="822960" y="17830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B2C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3"/>
          <p:cNvSpPr txBox="1"/>
          <p:nvPr/>
        </p:nvSpPr>
        <p:spPr>
          <a:xfrm>
            <a:off x="822960" y="20574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Free option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3"/>
          <p:cNvSpPr txBox="1"/>
          <p:nvPr/>
        </p:nvSpPr>
        <p:spPr>
          <a:xfrm>
            <a:off x="822960" y="25603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One feature </a:t>
            </a:r>
            <a:r>
              <a:rPr lang="en-US" sz="1200" b="0" i="1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free forever, </a:t>
            </a:r>
            <a:r>
              <a:rPr lang="en-US" sz="12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chosen by the user</a:t>
            </a:r>
            <a:endParaRPr sz="1400" b="0" i="1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3"/>
          <p:cNvSpPr txBox="1"/>
          <p:nvPr/>
        </p:nvSpPr>
        <p:spPr>
          <a:xfrm>
            <a:off x="822960" y="28803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Other features available via subscription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3"/>
          <p:cNvSpPr txBox="1"/>
          <p:nvPr/>
        </p:nvSpPr>
        <p:spPr>
          <a:xfrm>
            <a:off x="822960" y="32004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Target: 1000 users by January 2027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3"/>
          <p:cNvSpPr/>
          <p:nvPr/>
        </p:nvSpPr>
        <p:spPr>
          <a:xfrm>
            <a:off x="4754880" y="1645920"/>
            <a:ext cx="3749039" cy="18288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3"/>
          <p:cNvSpPr/>
          <p:nvPr/>
        </p:nvSpPr>
        <p:spPr>
          <a:xfrm>
            <a:off x="4754880" y="1645920"/>
            <a:ext cx="3749039" cy="36576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3"/>
          <p:cNvSpPr txBox="1"/>
          <p:nvPr/>
        </p:nvSpPr>
        <p:spPr>
          <a:xfrm>
            <a:off x="4937760" y="178308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B2C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3"/>
          <p:cNvSpPr txBox="1"/>
          <p:nvPr/>
        </p:nvSpPr>
        <p:spPr>
          <a:xfrm>
            <a:off x="4892039" y="203454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Pro plan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3"/>
          <p:cNvSpPr txBox="1"/>
          <p:nvPr/>
        </p:nvSpPr>
        <p:spPr>
          <a:xfrm>
            <a:off x="4893156" y="256032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1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€1 </a:t>
            </a: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first month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3"/>
          <p:cNvSpPr txBox="1"/>
          <p:nvPr/>
        </p:nvSpPr>
        <p:spPr>
          <a:xfrm>
            <a:off x="4885722" y="288036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1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€10/</a:t>
            </a:r>
            <a:r>
              <a:rPr lang="en-US" sz="12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month</a:t>
            </a:r>
            <a:r>
              <a:rPr lang="en-US" sz="1200" b="0" i="1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or </a:t>
            </a:r>
            <a:r>
              <a:rPr lang="en-US" sz="1200" b="0" i="1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€</a:t>
            </a:r>
            <a:r>
              <a:rPr lang="en-US" sz="1200" b="0" i="1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99/year</a:t>
            </a:r>
            <a:endParaRPr sz="14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3"/>
          <p:cNvSpPr txBox="1"/>
          <p:nvPr/>
        </p:nvSpPr>
        <p:spPr>
          <a:xfrm>
            <a:off x="640080" y="365760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KPIs and success metrics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3"/>
          <p:cNvSpPr txBox="1"/>
          <p:nvPr/>
        </p:nvSpPr>
        <p:spPr>
          <a:xfrm>
            <a:off x="640080" y="3977639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Downloads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3"/>
          <p:cNvSpPr txBox="1"/>
          <p:nvPr/>
        </p:nvSpPr>
        <p:spPr>
          <a:xfrm>
            <a:off x="640080" y="425196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1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1000 </a:t>
            </a:r>
            <a:r>
              <a:rPr lang="en-US" sz="16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Users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3"/>
          <p:cNvSpPr txBox="1"/>
          <p:nvPr/>
        </p:nvSpPr>
        <p:spPr>
          <a:xfrm>
            <a:off x="640080" y="46177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January 2027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3"/>
          <p:cNvSpPr txBox="1"/>
          <p:nvPr/>
        </p:nvSpPr>
        <p:spPr>
          <a:xfrm>
            <a:off x="3383280" y="3977639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Paying customers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3"/>
          <p:cNvSpPr txBox="1"/>
          <p:nvPr/>
        </p:nvSpPr>
        <p:spPr>
          <a:xfrm>
            <a:off x="3383280" y="425196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1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30 </a:t>
            </a:r>
            <a:r>
              <a:rPr lang="en-US" sz="16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Active Subscriptions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3"/>
          <p:cNvSpPr txBox="1"/>
          <p:nvPr/>
        </p:nvSpPr>
        <p:spPr>
          <a:xfrm>
            <a:off x="3383280" y="46177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January 2027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3"/>
          <p:cNvSpPr txBox="1"/>
          <p:nvPr/>
        </p:nvSpPr>
        <p:spPr>
          <a:xfrm>
            <a:off x="6126480" y="3977639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Revenue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3"/>
          <p:cNvSpPr txBox="1"/>
          <p:nvPr/>
        </p:nvSpPr>
        <p:spPr>
          <a:xfrm>
            <a:off x="6126480" y="425196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1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1000€</a:t>
            </a:r>
            <a:endParaRPr sz="1400" b="0" i="1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3"/>
          <p:cNvSpPr txBox="1"/>
          <p:nvPr/>
        </p:nvSpPr>
        <p:spPr>
          <a:xfrm>
            <a:off x="6126480" y="46177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March 2027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3"/>
          <p:cNvSpPr txBox="1"/>
          <p:nvPr/>
        </p:nvSpPr>
        <p:spPr>
          <a:xfrm>
            <a:off x="4898358" y="3200214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 users unlock all features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3A8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4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THE TEAM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4"/>
          <p:cNvSpPr txBox="1"/>
          <p:nvPr/>
        </p:nvSpPr>
        <p:spPr>
          <a:xfrm>
            <a:off x="640080" y="73152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The right people for the mission.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4"/>
          <p:cNvSpPr/>
          <p:nvPr/>
        </p:nvSpPr>
        <p:spPr>
          <a:xfrm>
            <a:off x="1371600" y="1645920"/>
            <a:ext cx="2926200" cy="29262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4"/>
          <p:cNvSpPr/>
          <p:nvPr/>
        </p:nvSpPr>
        <p:spPr>
          <a:xfrm>
            <a:off x="1371600" y="1645920"/>
            <a:ext cx="2926080" cy="36576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4"/>
          <p:cNvSpPr txBox="1"/>
          <p:nvPr/>
        </p:nvSpPr>
        <p:spPr>
          <a:xfrm>
            <a:off x="1645925" y="2891136"/>
            <a:ext cx="2377500" cy="2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Plamen Trendafilov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4"/>
          <p:cNvSpPr txBox="1"/>
          <p:nvPr/>
        </p:nvSpPr>
        <p:spPr>
          <a:xfrm>
            <a:off x="1645925" y="3164200"/>
            <a:ext cx="2377500" cy="1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Founder &amp; CEO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4"/>
          <p:cNvSpPr txBox="1"/>
          <p:nvPr/>
        </p:nvSpPr>
        <p:spPr>
          <a:xfrm>
            <a:off x="1645925" y="3467605"/>
            <a:ext cx="2377500" cy="10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Management &amp; Data Science</a:t>
            </a:r>
            <a:br>
              <a:rPr lang="en-US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Technical University of Munich</a:t>
            </a:r>
            <a:br>
              <a:rPr lang="en-US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Product vision, technology, pitch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4"/>
          <p:cNvSpPr/>
          <p:nvPr/>
        </p:nvSpPr>
        <p:spPr>
          <a:xfrm>
            <a:off x="4846320" y="1645920"/>
            <a:ext cx="2926080" cy="292608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4"/>
          <p:cNvSpPr/>
          <p:nvPr/>
        </p:nvSpPr>
        <p:spPr>
          <a:xfrm>
            <a:off x="4846320" y="1645920"/>
            <a:ext cx="2926080" cy="36576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4"/>
          <p:cNvSpPr txBox="1"/>
          <p:nvPr/>
        </p:nvSpPr>
        <p:spPr>
          <a:xfrm>
            <a:off x="5120650" y="2891139"/>
            <a:ext cx="2377500" cy="2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Ognyan Trendafilov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4"/>
          <p:cNvSpPr txBox="1"/>
          <p:nvPr/>
        </p:nvSpPr>
        <p:spPr>
          <a:xfrm>
            <a:off x="5120650" y="3164212"/>
            <a:ext cx="2377500" cy="1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Co-Founder &amp; CFO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4"/>
          <p:cNvSpPr txBox="1"/>
          <p:nvPr/>
        </p:nvSpPr>
        <p:spPr>
          <a:xfrm>
            <a:off x="5120650" y="3467627"/>
            <a:ext cx="2377500" cy="10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Economics &amp; Finance</a:t>
            </a:r>
            <a:br>
              <a:rPr lang="en-US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American University in Bulgaria</a:t>
            </a:r>
            <a:br>
              <a:rPr lang="en-US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Business strategy, partnerships, finance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8" name="Google Shape;298;p24" title="ogi.jfi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93509" y="1786354"/>
            <a:ext cx="1031700" cy="103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4" title="plamen.jfif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18848" y="1813969"/>
            <a:ext cx="1031700" cy="103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5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3A8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5"/>
          <p:cNvSpPr txBox="1"/>
          <p:nvPr/>
        </p:nvSpPr>
        <p:spPr>
          <a:xfrm>
            <a:off x="640080" y="4114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THE ASK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5"/>
          <p:cNvSpPr/>
          <p:nvPr/>
        </p:nvSpPr>
        <p:spPr>
          <a:xfrm>
            <a:off x="640080" y="731520"/>
            <a:ext cx="786384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Raising </a:t>
            </a:r>
            <a:r>
              <a:rPr lang="en-US" sz="2600" b="1" i="0" u="none" strike="noStrike" cap="non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€5,310</a:t>
            </a:r>
            <a:r>
              <a:rPr lang="en-US" sz="26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 to ship the MVP + our </a:t>
            </a:r>
            <a:r>
              <a:rPr lang="en-US" sz="2600" b="1" i="0" u="none" strike="noStrike" cap="non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PhD co-founder</a:t>
            </a:r>
            <a:r>
              <a:rPr lang="en-US" sz="26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307" name="Google Shape;307;p25"/>
          <p:cNvSpPr/>
          <p:nvPr/>
        </p:nvSpPr>
        <p:spPr>
          <a:xfrm>
            <a:off x="640080" y="1231520"/>
            <a:ext cx="786384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6B7B99"/>
                </a:solidFill>
                <a:latin typeface="Calibri"/>
                <a:ea typeface="Calibri"/>
                <a:cs typeface="Calibri"/>
                <a:sym typeface="Calibri"/>
              </a:rPr>
              <a:t>Pre-MVP expenses sourced from the monthly cash-flow model (Jan–Aug 2026), plus a technical partner to own Computer Vision, AR and driving research.</a:t>
            </a:r>
            <a:endParaRPr/>
          </a:p>
        </p:txBody>
      </p:sp>
      <p:sp>
        <p:nvSpPr>
          <p:cNvPr id="308" name="Google Shape;308;p25"/>
          <p:cNvSpPr/>
          <p:nvPr/>
        </p:nvSpPr>
        <p:spPr>
          <a:xfrm>
            <a:off x="640080" y="1800000"/>
            <a:ext cx="3933196" cy="2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USE OF FUNDS  ·  </a:t>
            </a:r>
            <a:r>
              <a:rPr lang="en-US" sz="1000" b="0" i="0" u="none" strike="noStrike" cap="none">
                <a:solidFill>
                  <a:srgbClr val="6B7B99"/>
                </a:solidFill>
                <a:latin typeface="Calibri"/>
                <a:ea typeface="Calibri"/>
                <a:cs typeface="Calibri"/>
                <a:sym typeface="Calibri"/>
              </a:rPr>
              <a:t>pre-MVP (Jan–Aug 2026)</a:t>
            </a:r>
            <a:endParaRPr/>
          </a:p>
        </p:txBody>
      </p:sp>
      <p:sp>
        <p:nvSpPr>
          <p:cNvPr id="309" name="Google Shape;309;p25"/>
          <p:cNvSpPr/>
          <p:nvPr/>
        </p:nvSpPr>
        <p:spPr>
          <a:xfrm>
            <a:off x="640080" y="2080000"/>
            <a:ext cx="3933196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Datasets &amp; Training</a:t>
            </a:r>
            <a:r>
              <a:rPr lang="en-US" sz="900" b="0" i="0" u="none" strike="noStrike" cap="none">
                <a:solidFill>
                  <a:srgbClr val="6B7B99"/>
                </a:solidFill>
                <a:latin typeface="Calibri"/>
                <a:ea typeface="Calibri"/>
                <a:cs typeface="Calibri"/>
                <a:sym typeface="Calibri"/>
              </a:rPr>
              <a:t>   €3,000   ·  56%</a:t>
            </a:r>
            <a:r>
              <a:rPr lang="en-US" sz="800" b="0" i="0" u="none" strike="noStrike" cap="none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   —  Driving-hour dataset license for CV training.</a:t>
            </a:r>
            <a:endParaRPr/>
          </a:p>
        </p:txBody>
      </p:sp>
      <p:sp>
        <p:nvSpPr>
          <p:cNvPr id="310" name="Google Shape;310;p25"/>
          <p:cNvSpPr/>
          <p:nvPr/>
        </p:nvSpPr>
        <p:spPr>
          <a:xfrm>
            <a:off x="640080" y="2280000"/>
            <a:ext cx="3893196" cy="80000"/>
          </a:xfrm>
          <a:prstGeom prst="roundRect">
            <a:avLst>
              <a:gd name="adj" fmla="val 50000"/>
            </a:avLst>
          </a:prstGeom>
          <a:solidFill>
            <a:srgbClr val="F4F7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25"/>
          <p:cNvSpPr/>
          <p:nvPr/>
        </p:nvSpPr>
        <p:spPr>
          <a:xfrm>
            <a:off x="640080" y="2280000"/>
            <a:ext cx="3893196" cy="800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5"/>
          <p:cNvSpPr/>
          <p:nvPr/>
        </p:nvSpPr>
        <p:spPr>
          <a:xfrm>
            <a:off x="640080" y="2440000"/>
            <a:ext cx="3933196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Hardware</a:t>
            </a:r>
            <a:r>
              <a:rPr lang="en-US" sz="900" b="0" i="0" u="none" strike="noStrike" cap="none">
                <a:solidFill>
                  <a:srgbClr val="6B7B99"/>
                </a:solidFill>
                <a:latin typeface="Calibri"/>
                <a:ea typeface="Calibri"/>
                <a:cs typeface="Calibri"/>
                <a:sym typeface="Calibri"/>
              </a:rPr>
              <a:t>   €1,300   ·  24%</a:t>
            </a:r>
            <a:r>
              <a:rPr lang="en-US" sz="800" b="0" i="0" u="none" strike="noStrike" cap="none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   —  RayNeo X3 Pro AI dev unit for AR prototype.</a:t>
            </a:r>
            <a:endParaRPr/>
          </a:p>
        </p:txBody>
      </p:sp>
      <p:sp>
        <p:nvSpPr>
          <p:cNvPr id="313" name="Google Shape;313;p25"/>
          <p:cNvSpPr/>
          <p:nvPr/>
        </p:nvSpPr>
        <p:spPr>
          <a:xfrm>
            <a:off x="640080" y="2640000"/>
            <a:ext cx="3893196" cy="80000"/>
          </a:xfrm>
          <a:prstGeom prst="roundRect">
            <a:avLst>
              <a:gd name="adj" fmla="val 50000"/>
            </a:avLst>
          </a:prstGeom>
          <a:solidFill>
            <a:srgbClr val="F4F7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25"/>
          <p:cNvSpPr/>
          <p:nvPr/>
        </p:nvSpPr>
        <p:spPr>
          <a:xfrm>
            <a:off x="640080" y="2640000"/>
            <a:ext cx="1687051" cy="8000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25"/>
          <p:cNvSpPr/>
          <p:nvPr/>
        </p:nvSpPr>
        <p:spPr>
          <a:xfrm>
            <a:off x="640080" y="2800000"/>
            <a:ext cx="3933196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GDPR / Legal</a:t>
            </a:r>
            <a:r>
              <a:rPr lang="en-US" sz="900" b="0" i="0" u="none" strike="noStrike" cap="none">
                <a:solidFill>
                  <a:srgbClr val="6B7B99"/>
                </a:solidFill>
                <a:latin typeface="Calibri"/>
                <a:ea typeface="Calibri"/>
                <a:cs typeface="Calibri"/>
                <a:sym typeface="Calibri"/>
              </a:rPr>
              <a:t>   €500   ·  9%</a:t>
            </a:r>
            <a:r>
              <a:rPr lang="en-US" sz="800" b="0" i="0" u="none" strike="noStrike" cap="none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   —  Compliance counsel to ship a safety app.</a:t>
            </a:r>
            <a:endParaRPr/>
          </a:p>
        </p:txBody>
      </p:sp>
      <p:sp>
        <p:nvSpPr>
          <p:cNvPr id="316" name="Google Shape;316;p25"/>
          <p:cNvSpPr/>
          <p:nvPr/>
        </p:nvSpPr>
        <p:spPr>
          <a:xfrm>
            <a:off x="640080" y="3000000"/>
            <a:ext cx="3893196" cy="80000"/>
          </a:xfrm>
          <a:prstGeom prst="roundRect">
            <a:avLst>
              <a:gd name="adj" fmla="val 50000"/>
            </a:avLst>
          </a:prstGeom>
          <a:solidFill>
            <a:srgbClr val="F4F7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5"/>
          <p:cNvSpPr/>
          <p:nvPr/>
        </p:nvSpPr>
        <p:spPr>
          <a:xfrm>
            <a:off x="640080" y="3000000"/>
            <a:ext cx="648866" cy="8000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25"/>
          <p:cNvSpPr/>
          <p:nvPr/>
        </p:nvSpPr>
        <p:spPr>
          <a:xfrm>
            <a:off x="640080" y="3160000"/>
            <a:ext cx="3933196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Storage / Server</a:t>
            </a:r>
            <a:r>
              <a:rPr lang="en-US" sz="900" b="0" i="0" u="none" strike="noStrike" cap="none">
                <a:solidFill>
                  <a:srgbClr val="6B7B99"/>
                </a:solidFill>
                <a:latin typeface="Calibri"/>
                <a:ea typeface="Calibri"/>
                <a:cs typeface="Calibri"/>
                <a:sym typeface="Calibri"/>
              </a:rPr>
              <a:t>   €400   ·  8%</a:t>
            </a:r>
            <a:r>
              <a:rPr lang="en-US" sz="800" b="0" i="0" u="none" strike="noStrike" cap="none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   —  Footage storage + infra for the first cohort.</a:t>
            </a:r>
            <a:endParaRPr/>
          </a:p>
        </p:txBody>
      </p:sp>
      <p:sp>
        <p:nvSpPr>
          <p:cNvPr id="319" name="Google Shape;319;p25"/>
          <p:cNvSpPr/>
          <p:nvPr/>
        </p:nvSpPr>
        <p:spPr>
          <a:xfrm>
            <a:off x="640080" y="3360000"/>
            <a:ext cx="3893196" cy="80000"/>
          </a:xfrm>
          <a:prstGeom prst="roundRect">
            <a:avLst>
              <a:gd name="adj" fmla="val 50000"/>
            </a:avLst>
          </a:prstGeom>
          <a:solidFill>
            <a:srgbClr val="F4F7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5"/>
          <p:cNvSpPr/>
          <p:nvPr/>
        </p:nvSpPr>
        <p:spPr>
          <a:xfrm>
            <a:off x="640080" y="3360000"/>
            <a:ext cx="519092" cy="8000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5"/>
          <p:cNvSpPr/>
          <p:nvPr/>
        </p:nvSpPr>
        <p:spPr>
          <a:xfrm>
            <a:off x="640080" y="3520000"/>
            <a:ext cx="3933196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Publishing &amp; Domain</a:t>
            </a:r>
            <a:r>
              <a:rPr lang="en-US" sz="900" b="0" i="0" u="none" strike="noStrike" cap="none">
                <a:solidFill>
                  <a:srgbClr val="6B7B99"/>
                </a:solidFill>
                <a:latin typeface="Calibri"/>
                <a:ea typeface="Calibri"/>
                <a:cs typeface="Calibri"/>
                <a:sym typeface="Calibri"/>
              </a:rPr>
              <a:t>   €110   ·  2%</a:t>
            </a:r>
            <a:r>
              <a:rPr lang="en-US" sz="800" b="0" i="0" u="none" strike="noStrike" cap="none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   —  App-store fees, website, certificates.</a:t>
            </a:r>
            <a:endParaRPr/>
          </a:p>
        </p:txBody>
      </p:sp>
      <p:sp>
        <p:nvSpPr>
          <p:cNvPr id="322" name="Google Shape;322;p25"/>
          <p:cNvSpPr/>
          <p:nvPr/>
        </p:nvSpPr>
        <p:spPr>
          <a:xfrm>
            <a:off x="640080" y="3720000"/>
            <a:ext cx="3893196" cy="80000"/>
          </a:xfrm>
          <a:prstGeom prst="roundRect">
            <a:avLst>
              <a:gd name="adj" fmla="val 50000"/>
            </a:avLst>
          </a:prstGeom>
          <a:solidFill>
            <a:srgbClr val="F4F7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5"/>
          <p:cNvSpPr/>
          <p:nvPr/>
        </p:nvSpPr>
        <p:spPr>
          <a:xfrm>
            <a:off x="640080" y="3720000"/>
            <a:ext cx="142750" cy="8000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5"/>
          <p:cNvSpPr/>
          <p:nvPr/>
        </p:nvSpPr>
        <p:spPr>
          <a:xfrm>
            <a:off x="640080" y="3900000"/>
            <a:ext cx="3933196" cy="260000"/>
          </a:xfrm>
          <a:prstGeom prst="roundRect">
            <a:avLst>
              <a:gd name="adj" fmla="val 12000"/>
            </a:avLst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5"/>
          <p:cNvSpPr/>
          <p:nvPr/>
        </p:nvSpPr>
        <p:spPr>
          <a:xfrm>
            <a:off x="640080" y="3900000"/>
            <a:ext cx="3933196" cy="2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 ASK</a:t>
            </a: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€5,310   </a:t>
            </a: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funds the prototype through early driving-school tests.</a:t>
            </a:r>
            <a:endParaRPr/>
          </a:p>
        </p:txBody>
      </p:sp>
      <p:sp>
        <p:nvSpPr>
          <p:cNvPr id="326" name="Google Shape;326;p25"/>
          <p:cNvSpPr/>
          <p:nvPr/>
        </p:nvSpPr>
        <p:spPr>
          <a:xfrm>
            <a:off x="4873276" y="1800000"/>
            <a:ext cx="3630644" cy="2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THE PROFILE  ·  </a:t>
            </a:r>
            <a:r>
              <a:rPr lang="en-US" sz="1000" b="0" i="0" u="none" strike="noStrike" cap="none">
                <a:solidFill>
                  <a:srgbClr val="6B7B99"/>
                </a:solidFill>
                <a:latin typeface="Calibri"/>
                <a:ea typeface="Calibri"/>
                <a:cs typeface="Calibri"/>
                <a:sym typeface="Calibri"/>
              </a:rPr>
              <a:t>PhD co-founder we’re looking for</a:t>
            </a:r>
            <a:endParaRPr/>
          </a:p>
        </p:txBody>
      </p:sp>
      <p:sp>
        <p:nvSpPr>
          <p:cNvPr id="327" name="Google Shape;327;p25"/>
          <p:cNvSpPr/>
          <p:nvPr/>
        </p:nvSpPr>
        <p:spPr>
          <a:xfrm>
            <a:off x="4873276" y="2100000"/>
            <a:ext cx="3630644" cy="5600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 w="9525" cap="flat" cmpd="sng">
            <a:solidFill>
              <a:srgbClr val="DCE3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25"/>
          <p:cNvSpPr/>
          <p:nvPr/>
        </p:nvSpPr>
        <p:spPr>
          <a:xfrm>
            <a:off x="5013276" y="2260000"/>
            <a:ext cx="260000" cy="2600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329" name="Google Shape;329;p25"/>
          <p:cNvSpPr/>
          <p:nvPr/>
        </p:nvSpPr>
        <p:spPr>
          <a:xfrm>
            <a:off x="5333276" y="2170000"/>
            <a:ext cx="3150644" cy="2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Computer Vision</a:t>
            </a:r>
            <a:endParaRPr/>
          </a:p>
        </p:txBody>
      </p:sp>
      <p:sp>
        <p:nvSpPr>
          <p:cNvPr id="330" name="Google Shape;330;p25"/>
          <p:cNvSpPr/>
          <p:nvPr/>
        </p:nvSpPr>
        <p:spPr>
          <a:xfrm>
            <a:off x="5333276" y="2380000"/>
            <a:ext cx="3150644" cy="2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Modern detection &amp; tracking (YOLO/DETR), real-time edge inference.</a:t>
            </a:r>
            <a:endParaRPr/>
          </a:p>
        </p:txBody>
      </p:sp>
      <p:sp>
        <p:nvSpPr>
          <p:cNvPr id="331" name="Google Shape;331;p25"/>
          <p:cNvSpPr/>
          <p:nvPr/>
        </p:nvSpPr>
        <p:spPr>
          <a:xfrm>
            <a:off x="4873276" y="2740000"/>
            <a:ext cx="3630644" cy="5600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 w="9525" cap="flat" cmpd="sng">
            <a:solidFill>
              <a:srgbClr val="DCE3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5"/>
          <p:cNvSpPr/>
          <p:nvPr/>
        </p:nvSpPr>
        <p:spPr>
          <a:xfrm>
            <a:off x="5013276" y="2900000"/>
            <a:ext cx="260000" cy="2600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333" name="Google Shape;333;p25"/>
          <p:cNvSpPr/>
          <p:nvPr/>
        </p:nvSpPr>
        <p:spPr>
          <a:xfrm>
            <a:off x="5333276" y="2810000"/>
            <a:ext cx="3150644" cy="2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Augmented Reality</a:t>
            </a:r>
            <a:endParaRPr/>
          </a:p>
        </p:txBody>
      </p:sp>
      <p:sp>
        <p:nvSpPr>
          <p:cNvPr id="334" name="Google Shape;334;p25"/>
          <p:cNvSpPr/>
          <p:nvPr/>
        </p:nvSpPr>
        <p:spPr>
          <a:xfrm>
            <a:off x="5333276" y="3020000"/>
            <a:ext cx="3150644" cy="2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AR SDKs, HUD overlays — RayNeo, HoloLens, Quest or automotive HUDs.</a:t>
            </a:r>
            <a:endParaRPr/>
          </a:p>
        </p:txBody>
      </p:sp>
      <p:sp>
        <p:nvSpPr>
          <p:cNvPr id="335" name="Google Shape;335;p25"/>
          <p:cNvSpPr/>
          <p:nvPr/>
        </p:nvSpPr>
        <p:spPr>
          <a:xfrm>
            <a:off x="4873276" y="3380000"/>
            <a:ext cx="3630644" cy="5600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 w="9525" cap="flat" cmpd="sng">
            <a:solidFill>
              <a:srgbClr val="DCE3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25"/>
          <p:cNvSpPr/>
          <p:nvPr/>
        </p:nvSpPr>
        <p:spPr>
          <a:xfrm>
            <a:off x="5013276" y="3540000"/>
            <a:ext cx="260000" cy="2600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337" name="Google Shape;337;p25"/>
          <p:cNvSpPr/>
          <p:nvPr/>
        </p:nvSpPr>
        <p:spPr>
          <a:xfrm>
            <a:off x="5333276" y="3450000"/>
            <a:ext cx="3150644" cy="2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Driving &amp; Safety</a:t>
            </a:r>
            <a:endParaRPr/>
          </a:p>
        </p:txBody>
      </p:sp>
      <p:sp>
        <p:nvSpPr>
          <p:cNvPr id="338" name="Google Shape;338;p25"/>
          <p:cNvSpPr/>
          <p:nvPr/>
        </p:nvSpPr>
        <p:spPr>
          <a:xfrm>
            <a:off x="5333276" y="3660000"/>
            <a:ext cx="3150644" cy="2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ADAS, driver-behavior research, road-safety data, a care for ethics.</a:t>
            </a:r>
            <a:endParaRPr/>
          </a:p>
        </p:txBody>
      </p:sp>
      <p:sp>
        <p:nvSpPr>
          <p:cNvPr id="339" name="Google Shape;339;p25"/>
          <p:cNvSpPr/>
          <p:nvPr/>
        </p:nvSpPr>
        <p:spPr>
          <a:xfrm>
            <a:off x="640080" y="4860000"/>
            <a:ext cx="786384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B7B99"/>
                </a:solidFill>
                <a:latin typeface="Calibri"/>
                <a:ea typeface="Calibri"/>
                <a:cs typeface="Calibri"/>
                <a:sym typeface="Calibri"/>
              </a:rPr>
              <a:t>Reach out →  </a:t>
            </a:r>
            <a:r>
              <a:rPr lang="en-US" sz="10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plamen.l.trendafilov@gmail.com</a:t>
            </a:r>
            <a:r>
              <a:rPr lang="en-US" sz="1000" b="0" i="0" u="none" strike="noStrike" cap="none">
                <a:solidFill>
                  <a:srgbClr val="6B7B99"/>
                </a:solidFill>
                <a:latin typeface="Calibri"/>
                <a:ea typeface="Calibri"/>
                <a:cs typeface="Calibri"/>
                <a:sym typeface="Calibri"/>
              </a:rPr>
              <a:t>   •   </a:t>
            </a:r>
            <a:r>
              <a:rPr lang="en-US" sz="10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ptrendafilov.github.io/Videmus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8A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6"/>
          <p:cNvSpPr/>
          <p:nvPr/>
        </p:nvSpPr>
        <p:spPr>
          <a:xfrm>
            <a:off x="0" y="0"/>
            <a:ext cx="2700" cy="5143500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6"/>
          <p:cNvSpPr/>
          <p:nvPr/>
        </p:nvSpPr>
        <p:spPr>
          <a:xfrm>
            <a:off x="914400" y="0"/>
            <a:ext cx="2700" cy="5143500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6"/>
          <p:cNvSpPr/>
          <p:nvPr/>
        </p:nvSpPr>
        <p:spPr>
          <a:xfrm>
            <a:off x="1828800" y="0"/>
            <a:ext cx="2700" cy="5143500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6"/>
          <p:cNvSpPr/>
          <p:nvPr/>
        </p:nvSpPr>
        <p:spPr>
          <a:xfrm>
            <a:off x="2743200" y="0"/>
            <a:ext cx="2700" cy="5143500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6"/>
          <p:cNvSpPr/>
          <p:nvPr/>
        </p:nvSpPr>
        <p:spPr>
          <a:xfrm>
            <a:off x="3657600" y="0"/>
            <a:ext cx="2700" cy="5143500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6"/>
          <p:cNvSpPr/>
          <p:nvPr/>
        </p:nvSpPr>
        <p:spPr>
          <a:xfrm>
            <a:off x="4572000" y="0"/>
            <a:ext cx="2700" cy="5143500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6"/>
          <p:cNvSpPr/>
          <p:nvPr/>
        </p:nvSpPr>
        <p:spPr>
          <a:xfrm>
            <a:off x="5486400" y="0"/>
            <a:ext cx="2700" cy="5143500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6"/>
          <p:cNvSpPr/>
          <p:nvPr/>
        </p:nvSpPr>
        <p:spPr>
          <a:xfrm>
            <a:off x="6400800" y="0"/>
            <a:ext cx="2700" cy="5143500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6"/>
          <p:cNvSpPr/>
          <p:nvPr/>
        </p:nvSpPr>
        <p:spPr>
          <a:xfrm>
            <a:off x="7315200" y="0"/>
            <a:ext cx="2700" cy="5143500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6"/>
          <p:cNvSpPr/>
          <p:nvPr/>
        </p:nvSpPr>
        <p:spPr>
          <a:xfrm>
            <a:off x="8229600" y="0"/>
            <a:ext cx="2700" cy="5143500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6"/>
          <p:cNvSpPr/>
          <p:nvPr/>
        </p:nvSpPr>
        <p:spPr>
          <a:xfrm>
            <a:off x="9144000" y="0"/>
            <a:ext cx="2700" cy="5143500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6"/>
          <p:cNvSpPr/>
          <p:nvPr/>
        </p:nvSpPr>
        <p:spPr>
          <a:xfrm>
            <a:off x="0" y="0"/>
            <a:ext cx="9144000" cy="2700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6"/>
          <p:cNvSpPr/>
          <p:nvPr/>
        </p:nvSpPr>
        <p:spPr>
          <a:xfrm>
            <a:off x="0" y="914400"/>
            <a:ext cx="9144000" cy="2700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6"/>
          <p:cNvSpPr/>
          <p:nvPr/>
        </p:nvSpPr>
        <p:spPr>
          <a:xfrm>
            <a:off x="0" y="1828800"/>
            <a:ext cx="9144000" cy="2700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6"/>
          <p:cNvSpPr/>
          <p:nvPr/>
        </p:nvSpPr>
        <p:spPr>
          <a:xfrm>
            <a:off x="0" y="2743200"/>
            <a:ext cx="9144000" cy="2700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6"/>
          <p:cNvSpPr/>
          <p:nvPr/>
        </p:nvSpPr>
        <p:spPr>
          <a:xfrm>
            <a:off x="0" y="3657600"/>
            <a:ext cx="9144000" cy="2700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6"/>
          <p:cNvSpPr/>
          <p:nvPr/>
        </p:nvSpPr>
        <p:spPr>
          <a:xfrm>
            <a:off x="0" y="4572000"/>
            <a:ext cx="9144000" cy="2700"/>
          </a:xfrm>
          <a:prstGeom prst="rect">
            <a:avLst/>
          </a:prstGeom>
          <a:solidFill>
            <a:srgbClr val="25459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1" name="Google Shape;361;p26" descr="videmus_icon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86200" y="457200"/>
            <a:ext cx="137160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6"/>
          <p:cNvSpPr txBox="1"/>
          <p:nvPr/>
        </p:nvSpPr>
        <p:spPr>
          <a:xfrm>
            <a:off x="457200" y="1645920"/>
            <a:ext cx="82296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lang="en-US" sz="5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VIDEMUS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6"/>
          <p:cNvSpPr txBox="1"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We guide the driver.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6"/>
          <p:cNvSpPr/>
          <p:nvPr/>
        </p:nvSpPr>
        <p:spPr>
          <a:xfrm>
            <a:off x="3840480" y="3017520"/>
            <a:ext cx="1463100" cy="270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6"/>
          <p:cNvSpPr txBox="1"/>
          <p:nvPr/>
        </p:nvSpPr>
        <p:spPr>
          <a:xfrm>
            <a:off x="457200" y="329184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plamen.l.trendafilov@gmail.com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6"/>
          <p:cNvSpPr txBox="1"/>
          <p:nvPr/>
        </p:nvSpPr>
        <p:spPr>
          <a:xfrm>
            <a:off x="457200" y="370332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B4C6DC"/>
                </a:solidFill>
                <a:latin typeface="Calibri"/>
                <a:ea typeface="Calibri"/>
                <a:cs typeface="Calibri"/>
                <a:sym typeface="Calibri"/>
              </a:rPr>
              <a:t>ptrendafilov.github.io/Videmus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6"/>
          <p:cNvSpPr txBox="1"/>
          <p:nvPr/>
        </p:nvSpPr>
        <p:spPr>
          <a:xfrm>
            <a:off x="457200" y="416052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7"/>
          <p:cNvSpPr/>
          <p:nvPr/>
        </p:nvSpPr>
        <p:spPr>
          <a:xfrm>
            <a:off x="0" y="0"/>
            <a:ext cx="54900" cy="5143500"/>
          </a:xfrm>
          <a:prstGeom prst="rect">
            <a:avLst/>
          </a:prstGeom>
          <a:solidFill>
            <a:srgbClr val="1E3A8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7"/>
          <p:cNvSpPr txBox="1"/>
          <p:nvPr/>
        </p:nvSpPr>
        <p:spPr>
          <a:xfrm>
            <a:off x="685805" y="2297395"/>
            <a:ext cx="77724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Annex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8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3A8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8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MARKET RESEARCH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8"/>
          <p:cNvSpPr/>
          <p:nvPr/>
        </p:nvSpPr>
        <p:spPr>
          <a:xfrm>
            <a:off x="640080" y="731520"/>
            <a:ext cx="7863840" cy="5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Large </a:t>
            </a:r>
            <a:r>
              <a:rPr lang="en-US" sz="3000" b="1" i="1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TAM</a:t>
            </a:r>
            <a:r>
              <a:rPr lang="en-US" sz="30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, credible </a:t>
            </a:r>
            <a:r>
              <a:rPr lang="en-US" sz="3000" b="1" i="1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SAM</a:t>
            </a:r>
            <a:r>
              <a:rPr lang="en-US" sz="30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, disciplined </a:t>
            </a:r>
            <a:r>
              <a:rPr lang="en-US" sz="3000" b="1" i="1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SOM</a:t>
            </a:r>
            <a:r>
              <a:rPr lang="en-US" sz="30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8"/>
          <p:cNvSpPr/>
          <p:nvPr/>
        </p:nvSpPr>
        <p:spPr>
          <a:xfrm>
            <a:off x="640080" y="1271520"/>
            <a:ext cx="5700000" cy="5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1" u="none" strike="noStrike" cap="none">
                <a:solidFill>
                  <a:srgbClr val="6B7B99"/>
                </a:solidFill>
                <a:latin typeface="Calibri"/>
                <a:ea typeface="Calibri"/>
                <a:cs typeface="Calibri"/>
                <a:sym typeface="Calibri"/>
              </a:rPr>
              <a:t>Bottom-up estimate using FHWA, Pew, ACEA, Eurostat and GSMA inputs.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8"/>
          <p:cNvSpPr/>
          <p:nvPr/>
        </p:nvSpPr>
        <p:spPr>
          <a:xfrm>
            <a:off x="640080" y="1900000"/>
            <a:ext cx="4800000" cy="760000"/>
          </a:xfrm>
          <a:prstGeom prst="roundRect">
            <a:avLst>
              <a:gd name="adj" fmla="val 8000"/>
            </a:avLst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8"/>
          <p:cNvSpPr/>
          <p:nvPr/>
        </p:nvSpPr>
        <p:spPr>
          <a:xfrm>
            <a:off x="820080" y="2010000"/>
            <a:ext cx="900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€77.3B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8"/>
          <p:cNvSpPr/>
          <p:nvPr/>
        </p:nvSpPr>
        <p:spPr>
          <a:xfrm>
            <a:off x="1860080" y="2010000"/>
            <a:ext cx="3480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Global annual ARR potential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780.9M compatible drivers worldwide (passenger-car fleet × smartphone penetration). €46.9B–€93.7B price sensitivity.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8"/>
          <p:cNvSpPr/>
          <p:nvPr/>
        </p:nvSpPr>
        <p:spPr>
          <a:xfrm>
            <a:off x="940080" y="2750000"/>
            <a:ext cx="4500000" cy="760000"/>
          </a:xfrm>
          <a:prstGeom prst="roundRect">
            <a:avLst>
              <a:gd name="adj" fmla="val 8000"/>
            </a:avLst>
          </a:prstGeom>
          <a:solidFill>
            <a:srgbClr val="60A5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8"/>
          <p:cNvSpPr/>
          <p:nvPr/>
        </p:nvSpPr>
        <p:spPr>
          <a:xfrm>
            <a:off x="1120080" y="2860000"/>
            <a:ext cx="900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€11.0B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8"/>
          <p:cNvSpPr/>
          <p:nvPr/>
        </p:nvSpPr>
        <p:spPr>
          <a:xfrm>
            <a:off x="2160080" y="2860000"/>
            <a:ext cx="3180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 + EU serviceable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111.0M users — a 25% slice of the US+EU compatible base fitting parking, pedestrian, and traffic-light use cases.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8"/>
          <p:cNvSpPr/>
          <p:nvPr/>
        </p:nvSpPr>
        <p:spPr>
          <a:xfrm>
            <a:off x="1240080" y="3600000"/>
            <a:ext cx="4200000" cy="760000"/>
          </a:xfrm>
          <a:prstGeom prst="roundRect">
            <a:avLst>
              <a:gd name="adj" fmla="val 8000"/>
            </a:avLst>
          </a:prstGeom>
          <a:solidFill>
            <a:srgbClr val="BFD5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8"/>
          <p:cNvSpPr/>
          <p:nvPr/>
        </p:nvSpPr>
        <p:spPr>
          <a:xfrm>
            <a:off x="1420080" y="3710000"/>
            <a:ext cx="900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SOM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€4.4M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8"/>
          <p:cNvSpPr/>
          <p:nvPr/>
        </p:nvSpPr>
        <p:spPr>
          <a:xfrm>
            <a:off x="2460080" y="3710000"/>
            <a:ext cx="2880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5-yr base-case ARR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44.4K paying users at 0.04% of US+EU SAM. Range €1.3M–€10.7M depending on share and price.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8"/>
          <p:cNvSpPr/>
          <p:nvPr/>
        </p:nvSpPr>
        <p:spPr>
          <a:xfrm>
            <a:off x="5700000" y="1900000"/>
            <a:ext cx="280392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STRATEGIC IMPLICATION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8"/>
          <p:cNvSpPr/>
          <p:nvPr/>
        </p:nvSpPr>
        <p:spPr>
          <a:xfrm>
            <a:off x="5700000" y="2160000"/>
            <a:ext cx="2803920" cy="1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Phone-first distribution. </a:t>
            </a:r>
            <a:r>
              <a:rPr lang="en-US" sz="1500" b="0" i="0" u="none" strike="noStrike" cap="none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216M US drivers with smartphones and 228M EU mobile-connected car users</a:t>
            </a: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28"/>
          <p:cNvSpPr/>
          <p:nvPr/>
        </p:nvSpPr>
        <p:spPr>
          <a:xfrm>
            <a:off x="5700000" y="3380000"/>
            <a:ext cx="280392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BASE-CASE SAM MIX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28"/>
          <p:cNvSpPr/>
          <p:nvPr/>
        </p:nvSpPr>
        <p:spPr>
          <a:xfrm>
            <a:off x="5700000" y="3620000"/>
            <a:ext cx="2803920" cy="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Learner &amp; novice drivers </a:t>
            </a:r>
            <a:r>
              <a:rPr lang="en-US" sz="10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   45%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28"/>
          <p:cNvSpPr/>
          <p:nvPr/>
        </p:nvSpPr>
        <p:spPr>
          <a:xfrm>
            <a:off x="5700000" y="3830000"/>
            <a:ext cx="2763920" cy="900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8"/>
          <p:cNvSpPr/>
          <p:nvPr/>
        </p:nvSpPr>
        <p:spPr>
          <a:xfrm>
            <a:off x="5700000" y="3830000"/>
            <a:ext cx="1243764" cy="900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8"/>
          <p:cNvSpPr/>
          <p:nvPr/>
        </p:nvSpPr>
        <p:spPr>
          <a:xfrm>
            <a:off x="5700000" y="3960000"/>
            <a:ext cx="2803920" cy="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Urban parking-heavy drivers</a:t>
            </a:r>
            <a:r>
              <a:rPr lang="en-US" sz="10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    30%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28"/>
          <p:cNvSpPr/>
          <p:nvPr/>
        </p:nvSpPr>
        <p:spPr>
          <a:xfrm>
            <a:off x="5700000" y="4170000"/>
            <a:ext cx="2763920" cy="900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28"/>
          <p:cNvSpPr/>
          <p:nvPr/>
        </p:nvSpPr>
        <p:spPr>
          <a:xfrm>
            <a:off x="5700000" y="4170000"/>
            <a:ext cx="829176" cy="9000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8"/>
          <p:cNvSpPr/>
          <p:nvPr/>
        </p:nvSpPr>
        <p:spPr>
          <a:xfrm>
            <a:off x="5700000" y="4300000"/>
            <a:ext cx="2803920" cy="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Safety-conscious everyday drivers</a:t>
            </a:r>
            <a:r>
              <a:rPr lang="en-US" sz="10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   25%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28"/>
          <p:cNvSpPr/>
          <p:nvPr/>
        </p:nvSpPr>
        <p:spPr>
          <a:xfrm>
            <a:off x="5700000" y="4510000"/>
            <a:ext cx="2763920" cy="900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28"/>
          <p:cNvSpPr/>
          <p:nvPr/>
        </p:nvSpPr>
        <p:spPr>
          <a:xfrm>
            <a:off x="5700000" y="4510000"/>
            <a:ext cx="690980" cy="9000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28"/>
          <p:cNvSpPr/>
          <p:nvPr/>
        </p:nvSpPr>
        <p:spPr>
          <a:xfrm>
            <a:off x="640080" y="4740000"/>
            <a:ext cx="7863840" cy="2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1" u="none" strike="noStrike" cap="none">
                <a:solidFill>
                  <a:srgbClr val="6B7B99"/>
                </a:solidFill>
                <a:latin typeface="Calibri"/>
                <a:ea typeface="Calibri"/>
                <a:cs typeface="Calibri"/>
                <a:sym typeface="Calibri"/>
              </a:rPr>
              <a:t>Sources: WHO Road Safety 2023 · FHWA Highway Statistics 2023 · Pew 2025 · ACEA · Eurostat · GSMA Intelligence · IDC.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9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3A8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9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PREDICTED CASH FLOW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29"/>
          <p:cNvSpPr/>
          <p:nvPr/>
        </p:nvSpPr>
        <p:spPr>
          <a:xfrm>
            <a:off x="640080" y="731520"/>
            <a:ext cx="7863840" cy="5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Where every euro </a:t>
            </a:r>
            <a:r>
              <a:rPr lang="en-US" sz="2800" b="1" i="0" u="none" strike="noStrike" cap="non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goes</a:t>
            </a:r>
            <a:r>
              <a:rPr lang="en-US" sz="28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 — and </a:t>
            </a:r>
            <a:r>
              <a:rPr lang="en-US" sz="2800" b="1" i="0" u="none" strike="noStrike" cap="non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comes from</a:t>
            </a:r>
            <a:r>
              <a:rPr lang="en-US" sz="28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411" name="Google Shape;411;p29"/>
          <p:cNvSpPr/>
          <p:nvPr/>
        </p:nvSpPr>
        <p:spPr>
          <a:xfrm>
            <a:off x="640080" y="1251520"/>
            <a:ext cx="7863840" cy="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u="none" strike="noStrike" cap="none">
                <a:solidFill>
                  <a:srgbClr val="6B7B99"/>
                </a:solidFill>
                <a:latin typeface="Calibri"/>
                <a:ea typeface="Calibri"/>
                <a:cs typeface="Calibri"/>
                <a:sym typeface="Calibri"/>
              </a:rPr>
              <a:t>Projected distribution of costs and revenue across the 3-year model (Jan 2026 – Dec 2028).</a:t>
            </a:r>
            <a:endParaRPr/>
          </a:p>
        </p:txBody>
      </p:sp>
      <p:sp>
        <p:nvSpPr>
          <p:cNvPr id="412" name="Google Shape;412;p29"/>
          <p:cNvSpPr/>
          <p:nvPr/>
        </p:nvSpPr>
        <p:spPr>
          <a:xfrm>
            <a:off x="640080" y="1800000"/>
            <a:ext cx="3791920" cy="300000"/>
          </a:xfrm>
          <a:prstGeom prst="roundRect">
            <a:avLst>
              <a:gd name="adj" fmla="val 15000"/>
            </a:avLst>
          </a:prstGeom>
          <a:solidFill>
            <a:srgbClr val="7F1D1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29"/>
          <p:cNvSpPr/>
          <p:nvPr/>
        </p:nvSpPr>
        <p:spPr>
          <a:xfrm>
            <a:off x="640080" y="1800000"/>
            <a:ext cx="379192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COSTS</a:t>
            </a: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€13,932 total over 3Y</a:t>
            </a:r>
            <a:endParaRPr/>
          </a:p>
        </p:txBody>
      </p:sp>
      <p:pic>
        <p:nvPicPr>
          <p:cNvPr id="414" name="Google Shape;414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0080" y="2180000"/>
            <a:ext cx="1600000" cy="16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9"/>
          <p:cNvSpPr/>
          <p:nvPr/>
        </p:nvSpPr>
        <p:spPr>
          <a:xfrm>
            <a:off x="2300080" y="2230000"/>
            <a:ext cx="170000" cy="170000"/>
          </a:xfrm>
          <a:prstGeom prst="roundRect">
            <a:avLst>
              <a:gd name="adj" fmla="val 30000"/>
            </a:avLst>
          </a:prstGeom>
          <a:solidFill>
            <a:srgbClr val="7F1D1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29"/>
          <p:cNvSpPr/>
          <p:nvPr/>
        </p:nvSpPr>
        <p:spPr>
          <a:xfrm>
            <a:off x="2530080" y="2180000"/>
            <a:ext cx="1841920" cy="2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Datasets &amp; Training</a:t>
            </a:r>
            <a:endParaRPr/>
          </a:p>
        </p:txBody>
      </p:sp>
      <p:sp>
        <p:nvSpPr>
          <p:cNvPr id="417" name="Google Shape;417;p29"/>
          <p:cNvSpPr/>
          <p:nvPr/>
        </p:nvSpPr>
        <p:spPr>
          <a:xfrm>
            <a:off x="2530080" y="2370000"/>
            <a:ext cx="184192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€5,292  ·  38%</a:t>
            </a:r>
            <a:endParaRPr/>
          </a:p>
        </p:txBody>
      </p:sp>
      <p:sp>
        <p:nvSpPr>
          <p:cNvPr id="418" name="Google Shape;418;p29"/>
          <p:cNvSpPr/>
          <p:nvPr/>
        </p:nvSpPr>
        <p:spPr>
          <a:xfrm>
            <a:off x="2530080" y="2520000"/>
            <a:ext cx="1841920" cy="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Driving-hour data &amp; model retraining.</a:t>
            </a:r>
            <a:endParaRPr/>
          </a:p>
        </p:txBody>
      </p:sp>
      <p:sp>
        <p:nvSpPr>
          <p:cNvPr id="419" name="Google Shape;419;p29"/>
          <p:cNvSpPr/>
          <p:nvPr/>
        </p:nvSpPr>
        <p:spPr>
          <a:xfrm>
            <a:off x="2300080" y="2730000"/>
            <a:ext cx="170000" cy="170000"/>
          </a:xfrm>
          <a:prstGeom prst="roundRect">
            <a:avLst>
              <a:gd name="adj" fmla="val 30000"/>
            </a:avLst>
          </a:prstGeom>
          <a:solidFill>
            <a:srgbClr val="B91C1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29"/>
          <p:cNvSpPr/>
          <p:nvPr/>
        </p:nvSpPr>
        <p:spPr>
          <a:xfrm>
            <a:off x="2530080" y="2680000"/>
            <a:ext cx="1841920" cy="2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Domain &amp; Hosting</a:t>
            </a:r>
            <a:endParaRPr/>
          </a:p>
        </p:txBody>
      </p:sp>
      <p:sp>
        <p:nvSpPr>
          <p:cNvPr id="421" name="Google Shape;421;p29"/>
          <p:cNvSpPr/>
          <p:nvPr/>
        </p:nvSpPr>
        <p:spPr>
          <a:xfrm>
            <a:off x="2530080" y="2870000"/>
            <a:ext cx="184192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€3,790  ·  27%</a:t>
            </a:r>
            <a:endParaRPr/>
          </a:p>
        </p:txBody>
      </p:sp>
      <p:sp>
        <p:nvSpPr>
          <p:cNvPr id="422" name="Google Shape;422;p29"/>
          <p:cNvSpPr/>
          <p:nvPr/>
        </p:nvSpPr>
        <p:spPr>
          <a:xfrm>
            <a:off x="2530080" y="3020000"/>
            <a:ext cx="1841920" cy="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Footage storage, servers, domain.</a:t>
            </a:r>
            <a:endParaRPr/>
          </a:p>
        </p:txBody>
      </p:sp>
      <p:sp>
        <p:nvSpPr>
          <p:cNvPr id="423" name="Google Shape;423;p29"/>
          <p:cNvSpPr/>
          <p:nvPr/>
        </p:nvSpPr>
        <p:spPr>
          <a:xfrm>
            <a:off x="2300080" y="3230000"/>
            <a:ext cx="170000" cy="170000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29"/>
          <p:cNvSpPr/>
          <p:nvPr/>
        </p:nvSpPr>
        <p:spPr>
          <a:xfrm>
            <a:off x="2530080" y="3180000"/>
            <a:ext cx="1841920" cy="2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Hardware</a:t>
            </a:r>
            <a:endParaRPr/>
          </a:p>
        </p:txBody>
      </p:sp>
      <p:sp>
        <p:nvSpPr>
          <p:cNvPr id="425" name="Google Shape;425;p29"/>
          <p:cNvSpPr/>
          <p:nvPr/>
        </p:nvSpPr>
        <p:spPr>
          <a:xfrm>
            <a:off x="2530080" y="3370000"/>
            <a:ext cx="184192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€2,600  ·  19%</a:t>
            </a:r>
            <a:endParaRPr/>
          </a:p>
        </p:txBody>
      </p:sp>
      <p:sp>
        <p:nvSpPr>
          <p:cNvPr id="426" name="Google Shape;426;p29"/>
          <p:cNvSpPr/>
          <p:nvPr/>
        </p:nvSpPr>
        <p:spPr>
          <a:xfrm>
            <a:off x="2530080" y="3520000"/>
            <a:ext cx="1841920" cy="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2× RayNeo X3 Pro AR dev units.</a:t>
            </a:r>
            <a:endParaRPr/>
          </a:p>
        </p:txBody>
      </p:sp>
      <p:sp>
        <p:nvSpPr>
          <p:cNvPr id="427" name="Google Shape;427;p29"/>
          <p:cNvSpPr/>
          <p:nvPr/>
        </p:nvSpPr>
        <p:spPr>
          <a:xfrm>
            <a:off x="2300080" y="3730000"/>
            <a:ext cx="170000" cy="170000"/>
          </a:xfrm>
          <a:prstGeom prst="roundRect">
            <a:avLst>
              <a:gd name="adj" fmla="val 30000"/>
            </a:avLst>
          </a:prstGeom>
          <a:solidFill>
            <a:srgbClr val="F8717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29"/>
          <p:cNvSpPr/>
          <p:nvPr/>
        </p:nvSpPr>
        <p:spPr>
          <a:xfrm>
            <a:off x="2530080" y="3680000"/>
            <a:ext cx="1841920" cy="2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Marketing</a:t>
            </a:r>
            <a:endParaRPr/>
          </a:p>
        </p:txBody>
      </p:sp>
      <p:sp>
        <p:nvSpPr>
          <p:cNvPr id="429" name="Google Shape;429;p29"/>
          <p:cNvSpPr/>
          <p:nvPr/>
        </p:nvSpPr>
        <p:spPr>
          <a:xfrm>
            <a:off x="2530080" y="3870000"/>
            <a:ext cx="184192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€1,150  ·  8%</a:t>
            </a:r>
            <a:endParaRPr/>
          </a:p>
        </p:txBody>
      </p:sp>
      <p:sp>
        <p:nvSpPr>
          <p:cNvPr id="430" name="Google Shape;430;p29"/>
          <p:cNvSpPr/>
          <p:nvPr/>
        </p:nvSpPr>
        <p:spPr>
          <a:xfrm>
            <a:off x="2530080" y="4020000"/>
            <a:ext cx="1841920" cy="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Ads, content, launch — €25–€50/mo.</a:t>
            </a:r>
            <a:endParaRPr/>
          </a:p>
        </p:txBody>
      </p:sp>
      <p:sp>
        <p:nvSpPr>
          <p:cNvPr id="431" name="Google Shape;431;p29"/>
          <p:cNvSpPr/>
          <p:nvPr/>
        </p:nvSpPr>
        <p:spPr>
          <a:xfrm>
            <a:off x="2300080" y="4230000"/>
            <a:ext cx="170000" cy="170000"/>
          </a:xfrm>
          <a:prstGeom prst="roundRect">
            <a:avLst>
              <a:gd name="adj" fmla="val 30000"/>
            </a:avLst>
          </a:prstGeom>
          <a:solidFill>
            <a:srgbClr val="FC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29"/>
          <p:cNvSpPr/>
          <p:nvPr/>
        </p:nvSpPr>
        <p:spPr>
          <a:xfrm>
            <a:off x="2530080" y="4180000"/>
            <a:ext cx="1841920" cy="2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Legal &amp; Publishing</a:t>
            </a:r>
            <a:endParaRPr/>
          </a:p>
        </p:txBody>
      </p:sp>
      <p:sp>
        <p:nvSpPr>
          <p:cNvPr id="433" name="Google Shape;433;p29"/>
          <p:cNvSpPr/>
          <p:nvPr/>
        </p:nvSpPr>
        <p:spPr>
          <a:xfrm>
            <a:off x="2530080" y="4370000"/>
            <a:ext cx="184192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€1,100  ·  8%</a:t>
            </a:r>
            <a:endParaRPr/>
          </a:p>
        </p:txBody>
      </p:sp>
      <p:sp>
        <p:nvSpPr>
          <p:cNvPr id="434" name="Google Shape;434;p29"/>
          <p:cNvSpPr/>
          <p:nvPr/>
        </p:nvSpPr>
        <p:spPr>
          <a:xfrm>
            <a:off x="2530080" y="4520000"/>
            <a:ext cx="1841920" cy="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GDPR counsel + app-store fees.</a:t>
            </a:r>
            <a:endParaRPr/>
          </a:p>
        </p:txBody>
      </p:sp>
      <p:sp>
        <p:nvSpPr>
          <p:cNvPr id="435" name="Google Shape;435;p29"/>
          <p:cNvSpPr/>
          <p:nvPr/>
        </p:nvSpPr>
        <p:spPr>
          <a:xfrm>
            <a:off x="4712000" y="1800000"/>
            <a:ext cx="3791920" cy="300000"/>
          </a:xfrm>
          <a:prstGeom prst="roundRect">
            <a:avLst>
              <a:gd name="adj" fmla="val 15000"/>
            </a:avLst>
          </a:prstGeom>
          <a:solidFill>
            <a:srgbClr val="065F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29"/>
          <p:cNvSpPr/>
          <p:nvPr/>
        </p:nvSpPr>
        <p:spPr>
          <a:xfrm>
            <a:off x="4712000" y="1800000"/>
            <a:ext cx="379192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REVENUE</a:t>
            </a: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€215,516 total over 3Y</a:t>
            </a:r>
            <a:endParaRPr/>
          </a:p>
        </p:txBody>
      </p:sp>
      <p:pic>
        <p:nvPicPr>
          <p:cNvPr id="437" name="Google Shape;437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52000" y="2180000"/>
            <a:ext cx="1600000" cy="16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29"/>
          <p:cNvSpPr/>
          <p:nvPr/>
        </p:nvSpPr>
        <p:spPr>
          <a:xfrm>
            <a:off x="6372000" y="2270000"/>
            <a:ext cx="170000" cy="170000"/>
          </a:xfrm>
          <a:prstGeom prst="roundRect">
            <a:avLst>
              <a:gd name="adj" fmla="val 30000"/>
            </a:avLst>
          </a:prstGeom>
          <a:solidFill>
            <a:srgbClr val="065F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29"/>
          <p:cNvSpPr/>
          <p:nvPr/>
        </p:nvSpPr>
        <p:spPr>
          <a:xfrm>
            <a:off x="6602000" y="2230000"/>
            <a:ext cx="184192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Subscriptions</a:t>
            </a:r>
            <a:endParaRPr/>
          </a:p>
        </p:txBody>
      </p:sp>
      <p:sp>
        <p:nvSpPr>
          <p:cNvPr id="440" name="Google Shape;440;p29"/>
          <p:cNvSpPr/>
          <p:nvPr/>
        </p:nvSpPr>
        <p:spPr>
          <a:xfrm>
            <a:off x="6602000" y="2460000"/>
            <a:ext cx="184192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€192,320  ·  89.2%</a:t>
            </a:r>
            <a:endParaRPr/>
          </a:p>
        </p:txBody>
      </p:sp>
      <p:sp>
        <p:nvSpPr>
          <p:cNvPr id="441" name="Google Shape;441;p29"/>
          <p:cNvSpPr/>
          <p:nvPr/>
        </p:nvSpPr>
        <p:spPr>
          <a:xfrm>
            <a:off x="6602000" y="2680000"/>
            <a:ext cx="1841920" cy="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Pro plan at €1 first month, €10/mo or €99/year. Ramps from 1 to 1,080 paying users; €8 then €16 blended ARPU.</a:t>
            </a:r>
            <a:endParaRPr/>
          </a:p>
        </p:txBody>
      </p:sp>
      <p:sp>
        <p:nvSpPr>
          <p:cNvPr id="442" name="Google Shape;442;p29"/>
          <p:cNvSpPr/>
          <p:nvPr/>
        </p:nvSpPr>
        <p:spPr>
          <a:xfrm>
            <a:off x="6372000" y="3450000"/>
            <a:ext cx="170000" cy="170000"/>
          </a:xfrm>
          <a:prstGeom prst="roundRect">
            <a:avLst>
              <a:gd name="adj" fmla="val 30000"/>
            </a:avLst>
          </a:prstGeom>
          <a:solidFill>
            <a:srgbClr val="34D3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29"/>
          <p:cNvSpPr/>
          <p:nvPr/>
        </p:nvSpPr>
        <p:spPr>
          <a:xfrm>
            <a:off x="6602000" y="3410000"/>
            <a:ext cx="184192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Footage / Data licensing</a:t>
            </a:r>
            <a:endParaRPr/>
          </a:p>
        </p:txBody>
      </p:sp>
      <p:sp>
        <p:nvSpPr>
          <p:cNvPr id="444" name="Google Shape;444;p29"/>
          <p:cNvSpPr/>
          <p:nvPr/>
        </p:nvSpPr>
        <p:spPr>
          <a:xfrm>
            <a:off x="6602000" y="3640000"/>
            <a:ext cx="184192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€23,196  ·  10.8%</a:t>
            </a:r>
            <a:endParaRPr/>
          </a:p>
        </p:txBody>
      </p:sp>
      <p:sp>
        <p:nvSpPr>
          <p:cNvPr id="445" name="Google Shape;445;p29"/>
          <p:cNvSpPr/>
          <p:nvPr/>
        </p:nvSpPr>
        <p:spPr>
          <a:xfrm>
            <a:off x="6602000" y="3860000"/>
            <a:ext cx="1841920" cy="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Anonymized driving-hour datasets sold to AV labs &amp; ADAS researchers. Starts small, scales with active users.</a:t>
            </a:r>
            <a:endParaRPr/>
          </a:p>
        </p:txBody>
      </p:sp>
      <p:sp>
        <p:nvSpPr>
          <p:cNvPr id="446" name="Google Shape;446;p29"/>
          <p:cNvSpPr/>
          <p:nvPr/>
        </p:nvSpPr>
        <p:spPr>
          <a:xfrm>
            <a:off x="640080" y="4880000"/>
            <a:ext cx="786384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B7B99"/>
                </a:solidFill>
                <a:latin typeface="Calibri"/>
                <a:ea typeface="Calibri"/>
                <a:cs typeface="Calibri"/>
                <a:sym typeface="Calibri"/>
              </a:rPr>
              <a:t>Revenue outpaces cost ~15× over 3 years  •  NPV @ 10%: </a:t>
            </a:r>
            <a:r>
              <a:rPr lang="en-US" sz="900" b="1" i="0" u="none" strike="noStrike" cap="non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€75.9K</a:t>
            </a:r>
            <a:r>
              <a:rPr lang="en-US" sz="900" b="0" i="0" u="none" strike="noStrike" cap="none">
                <a:solidFill>
                  <a:srgbClr val="6B7B99"/>
                </a:solidFill>
                <a:latin typeface="Calibri"/>
                <a:ea typeface="Calibri"/>
                <a:cs typeface="Calibri"/>
                <a:sym typeface="Calibri"/>
              </a:rPr>
              <a:t>   •   IRR: </a:t>
            </a:r>
            <a:r>
              <a:rPr lang="en-US" sz="900" b="1" i="0" u="none" strike="noStrike" cap="non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17.4%</a:t>
            </a:r>
            <a:r>
              <a:rPr lang="en-US" sz="900" b="0" i="0" u="none" strike="noStrike" cap="none">
                <a:solidFill>
                  <a:srgbClr val="6B7B99"/>
                </a:solidFill>
                <a:latin typeface="Calibri"/>
                <a:ea typeface="Calibri"/>
                <a:cs typeface="Calibri"/>
                <a:sym typeface="Calibri"/>
              </a:rPr>
              <a:t>   •   Break-even: </a:t>
            </a:r>
            <a:r>
              <a:rPr lang="en-US" sz="9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March 2028</a:t>
            </a:r>
            <a:r>
              <a:rPr lang="en-US" sz="900" b="0" i="1" u="none" strike="noStrike" cap="none">
                <a:solidFill>
                  <a:srgbClr val="6B7B99"/>
                </a:solidFill>
                <a:latin typeface="Calibri"/>
                <a:ea typeface="Calibri"/>
                <a:cs typeface="Calibri"/>
                <a:sym typeface="Calibri"/>
              </a:rPr>
              <a:t>   — see next slide for monthly trajectory.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3A8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31"/>
          <p:cNvSpPr txBox="1"/>
          <p:nvPr/>
        </p:nvSpPr>
        <p:spPr>
          <a:xfrm>
            <a:off x="640080" y="4114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THE ASK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31"/>
          <p:cNvSpPr txBox="1"/>
          <p:nvPr/>
        </p:nvSpPr>
        <p:spPr>
          <a:xfrm>
            <a:off x="640080" y="73152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-US" sz="34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Raising </a:t>
            </a:r>
            <a:r>
              <a:rPr lang="en-US" sz="3400" b="1" i="1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€5000</a:t>
            </a:r>
            <a:r>
              <a:rPr lang="en-US" sz="34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4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to ship the MVP.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31"/>
          <p:cNvSpPr txBox="1"/>
          <p:nvPr/>
        </p:nvSpPr>
        <p:spPr>
          <a:xfrm>
            <a:off x="640080" y="182880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USE OF FUNDS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31"/>
          <p:cNvSpPr/>
          <p:nvPr/>
        </p:nvSpPr>
        <p:spPr>
          <a:xfrm>
            <a:off x="640080" y="2148840"/>
            <a:ext cx="3840480" cy="59436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31"/>
          <p:cNvSpPr txBox="1"/>
          <p:nvPr/>
        </p:nvSpPr>
        <p:spPr>
          <a:xfrm>
            <a:off x="640074" y="2222000"/>
            <a:ext cx="1554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 dirty="0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AR Glasses (1)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31"/>
          <p:cNvSpPr txBox="1"/>
          <p:nvPr/>
        </p:nvSpPr>
        <p:spPr>
          <a:xfrm>
            <a:off x="2194560" y="2221992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1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€1</a:t>
            </a:r>
            <a:r>
              <a:rPr lang="en-US" sz="1600" b="1" i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600" b="1" i="1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 sz="1400" b="0" i="1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31"/>
          <p:cNvSpPr txBox="1"/>
          <p:nvPr/>
        </p:nvSpPr>
        <p:spPr>
          <a:xfrm>
            <a:off x="822950" y="2514600"/>
            <a:ext cx="3449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RayNeo X3 Pro AI dev units for the prototype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31"/>
          <p:cNvSpPr/>
          <p:nvPr/>
        </p:nvSpPr>
        <p:spPr>
          <a:xfrm>
            <a:off x="640080" y="2834640"/>
            <a:ext cx="3840480" cy="59436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1"/>
          <p:cNvSpPr txBox="1"/>
          <p:nvPr/>
        </p:nvSpPr>
        <p:spPr>
          <a:xfrm>
            <a:off x="639949" y="2907800"/>
            <a:ext cx="1554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Co-founder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31"/>
          <p:cNvSpPr txBox="1"/>
          <p:nvPr/>
        </p:nvSpPr>
        <p:spPr>
          <a:xfrm>
            <a:off x="2194560" y="2907792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1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Wanted</a:t>
            </a:r>
            <a:endParaRPr sz="1400" b="0" i="1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31"/>
          <p:cNvSpPr txBox="1"/>
          <p:nvPr/>
        </p:nvSpPr>
        <p:spPr>
          <a:xfrm>
            <a:off x="822960" y="320040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 train the CV model and build the company with 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31"/>
          <p:cNvSpPr/>
          <p:nvPr/>
        </p:nvSpPr>
        <p:spPr>
          <a:xfrm>
            <a:off x="640080" y="3520440"/>
            <a:ext cx="3840480" cy="59436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1"/>
          <p:cNvSpPr txBox="1"/>
          <p:nvPr/>
        </p:nvSpPr>
        <p:spPr>
          <a:xfrm>
            <a:off x="639950" y="3593600"/>
            <a:ext cx="1762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Software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31"/>
          <p:cNvSpPr txBox="1"/>
          <p:nvPr/>
        </p:nvSpPr>
        <p:spPr>
          <a:xfrm>
            <a:off x="2194560" y="3593592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1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€3500</a:t>
            </a:r>
            <a:endParaRPr sz="1400" b="0" i="1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31"/>
          <p:cNvSpPr txBox="1"/>
          <p:nvPr/>
        </p:nvSpPr>
        <p:spPr>
          <a:xfrm>
            <a:off x="822949" y="3886200"/>
            <a:ext cx="4105889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Development, publishing, training costs, and operating requirements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31"/>
          <p:cNvSpPr txBox="1"/>
          <p:nvPr/>
        </p:nvSpPr>
        <p:spPr>
          <a:xfrm>
            <a:off x="4754880" y="182880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THIS CAPITAL GETS US 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31"/>
          <p:cNvSpPr txBox="1"/>
          <p:nvPr/>
        </p:nvSpPr>
        <p:spPr>
          <a:xfrm>
            <a:off x="4754880" y="219456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31"/>
          <p:cNvSpPr txBox="1"/>
          <p:nvPr/>
        </p:nvSpPr>
        <p:spPr>
          <a:xfrm>
            <a:off x="5029200" y="2212850"/>
            <a:ext cx="4025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4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Glasses-based prototype tested in </a:t>
            </a:r>
            <a:r>
              <a:rPr lang="en-US" sz="1400" b="1" i="1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4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partner schools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31"/>
          <p:cNvSpPr txBox="1"/>
          <p:nvPr/>
        </p:nvSpPr>
        <p:spPr>
          <a:xfrm>
            <a:off x="4754880" y="260604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31"/>
          <p:cNvSpPr txBox="1"/>
          <p:nvPr/>
        </p:nvSpPr>
        <p:spPr>
          <a:xfrm>
            <a:off x="5029200" y="2624328"/>
            <a:ext cx="3657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400" b="1" i="1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lang="en-US" sz="14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signed instructor LOIs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31"/>
          <p:cNvSpPr txBox="1"/>
          <p:nvPr/>
        </p:nvSpPr>
        <p:spPr>
          <a:xfrm>
            <a:off x="4754880" y="30175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31"/>
          <p:cNvSpPr txBox="1"/>
          <p:nvPr/>
        </p:nvSpPr>
        <p:spPr>
          <a:xfrm>
            <a:off x="4754880" y="34290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31"/>
          <p:cNvSpPr txBox="1"/>
          <p:nvPr/>
        </p:nvSpPr>
        <p:spPr>
          <a:xfrm>
            <a:off x="5029200" y="3035808"/>
            <a:ext cx="3657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4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First real-world safety + UX data on glasses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31"/>
          <p:cNvSpPr txBox="1"/>
          <p:nvPr/>
        </p:nvSpPr>
        <p:spPr>
          <a:xfrm>
            <a:off x="5029200" y="3447288"/>
            <a:ext cx="3657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4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Ready for paid pilots and a seed round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3A8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32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TRACTION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32"/>
          <p:cNvSpPr txBox="1"/>
          <p:nvPr/>
        </p:nvSpPr>
        <p:spPr>
          <a:xfrm>
            <a:off x="640080" y="73152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What we’ve built so far.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32"/>
          <p:cNvSpPr/>
          <p:nvPr/>
        </p:nvSpPr>
        <p:spPr>
          <a:xfrm>
            <a:off x="640080" y="1554480"/>
            <a:ext cx="3840480" cy="9144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32"/>
          <p:cNvSpPr/>
          <p:nvPr/>
        </p:nvSpPr>
        <p:spPr>
          <a:xfrm>
            <a:off x="640080" y="1554480"/>
            <a:ext cx="36576" cy="91440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32"/>
          <p:cNvSpPr txBox="1"/>
          <p:nvPr/>
        </p:nvSpPr>
        <p:spPr>
          <a:xfrm>
            <a:off x="822960" y="162763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Brand &amp; Identity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32"/>
          <p:cNvSpPr txBox="1"/>
          <p:nvPr/>
        </p:nvSpPr>
        <p:spPr>
          <a:xfrm>
            <a:off x="822960" y="1938528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Logo, visual identity, and motto established.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32"/>
          <p:cNvSpPr/>
          <p:nvPr/>
        </p:nvSpPr>
        <p:spPr>
          <a:xfrm>
            <a:off x="4846320" y="1554480"/>
            <a:ext cx="3840480" cy="9144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32"/>
          <p:cNvSpPr/>
          <p:nvPr/>
        </p:nvSpPr>
        <p:spPr>
          <a:xfrm>
            <a:off x="4846320" y="1554480"/>
            <a:ext cx="36576" cy="91440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32"/>
          <p:cNvSpPr txBox="1"/>
          <p:nvPr/>
        </p:nvSpPr>
        <p:spPr>
          <a:xfrm>
            <a:off x="5029200" y="162763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Concept Videos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32"/>
          <p:cNvSpPr txBox="1"/>
          <p:nvPr/>
        </p:nvSpPr>
        <p:spPr>
          <a:xfrm>
            <a:off x="5029200" y="1938528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Three AR guidance demos produced: parking, pedestrian, and traffic light scenarios.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32"/>
          <p:cNvSpPr/>
          <p:nvPr/>
        </p:nvSpPr>
        <p:spPr>
          <a:xfrm>
            <a:off x="640080" y="2651760"/>
            <a:ext cx="3840480" cy="9144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32"/>
          <p:cNvSpPr/>
          <p:nvPr/>
        </p:nvSpPr>
        <p:spPr>
          <a:xfrm>
            <a:off x="640080" y="2651760"/>
            <a:ext cx="36576" cy="91440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32"/>
          <p:cNvSpPr txBox="1"/>
          <p:nvPr/>
        </p:nvSpPr>
        <p:spPr>
          <a:xfrm>
            <a:off x="822960" y="272491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Baseline Model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32"/>
          <p:cNvSpPr txBox="1"/>
          <p:nvPr/>
        </p:nvSpPr>
        <p:spPr>
          <a:xfrm>
            <a:off x="822960" y="2998638"/>
            <a:ext cx="3474720" cy="56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YOLOv8 trained on traffic lights, cars, pedestrians detection dataset. Validated on real driving footage video below and </a:t>
            </a:r>
            <a:r>
              <a:rPr lang="en-US" sz="11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GITHUB</a:t>
            </a:r>
            <a:r>
              <a:rPr lang="en-US" sz="11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32"/>
          <p:cNvSpPr/>
          <p:nvPr/>
        </p:nvSpPr>
        <p:spPr>
          <a:xfrm>
            <a:off x="4846320" y="2651760"/>
            <a:ext cx="3840600" cy="9144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32"/>
          <p:cNvSpPr/>
          <p:nvPr/>
        </p:nvSpPr>
        <p:spPr>
          <a:xfrm>
            <a:off x="4846320" y="2651760"/>
            <a:ext cx="36576" cy="91440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32"/>
          <p:cNvSpPr txBox="1"/>
          <p:nvPr/>
        </p:nvSpPr>
        <p:spPr>
          <a:xfrm>
            <a:off x="5029200" y="272491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Competition Selected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32"/>
          <p:cNvSpPr txBox="1"/>
          <p:nvPr/>
        </p:nvSpPr>
        <p:spPr>
          <a:xfrm>
            <a:off x="5029200" y="3035808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Finalist in Sofia pitch competition with guaranteed prize and HP advisor assigned.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32"/>
          <p:cNvSpPr/>
          <p:nvPr/>
        </p:nvSpPr>
        <p:spPr>
          <a:xfrm>
            <a:off x="640080" y="3749039"/>
            <a:ext cx="3840480" cy="9144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32"/>
          <p:cNvSpPr/>
          <p:nvPr/>
        </p:nvSpPr>
        <p:spPr>
          <a:xfrm>
            <a:off x="640080" y="3749039"/>
            <a:ext cx="36576" cy="91440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32"/>
          <p:cNvSpPr txBox="1"/>
          <p:nvPr/>
        </p:nvSpPr>
        <p:spPr>
          <a:xfrm>
            <a:off x="822960" y="3822191"/>
            <a:ext cx="3474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Incubator Pipeline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32"/>
          <p:cNvSpPr txBox="1"/>
          <p:nvPr/>
        </p:nvSpPr>
        <p:spPr>
          <a:xfrm>
            <a:off x="822960" y="4133087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Application prepared for Constructor Start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32"/>
          <p:cNvSpPr/>
          <p:nvPr/>
        </p:nvSpPr>
        <p:spPr>
          <a:xfrm>
            <a:off x="4846258" y="3749035"/>
            <a:ext cx="3840600" cy="9144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32"/>
          <p:cNvSpPr/>
          <p:nvPr/>
        </p:nvSpPr>
        <p:spPr>
          <a:xfrm>
            <a:off x="4846258" y="3749035"/>
            <a:ext cx="36600" cy="91440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32"/>
          <p:cNvSpPr txBox="1"/>
          <p:nvPr/>
        </p:nvSpPr>
        <p:spPr>
          <a:xfrm>
            <a:off x="5029138" y="3822187"/>
            <a:ext cx="3474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Website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32"/>
          <p:cNvSpPr txBox="1"/>
          <p:nvPr/>
        </p:nvSpPr>
        <p:spPr>
          <a:xfrm>
            <a:off x="5029138" y="4133083"/>
            <a:ext cx="3474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Creation of website for the product - </a:t>
            </a:r>
            <a:r>
              <a:rPr lang="en-US" sz="11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https://ptrendafilov.github.io/Videmus</a:t>
            </a:r>
            <a:endParaRPr sz="1100" b="0" i="0" u="none" strike="noStrike" cap="non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32"/>
          <p:cNvSpPr txBox="1"/>
          <p:nvPr/>
        </p:nvSpPr>
        <p:spPr>
          <a:xfrm>
            <a:off x="2252546" y="2440629"/>
            <a:ext cx="45943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  <p:sp>
        <p:nvSpPr>
          <p:cNvPr id="518" name="Google Shape;518;p3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3180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/>
          </a:p>
        </p:txBody>
      </p:sp>
      <p:pic>
        <p:nvPicPr>
          <p:cNvPr id="519" name="Google Shape;519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1409</Words>
  <Application>Microsoft Office PowerPoint</Application>
  <PresentationFormat>On-screen Show (16:9)</PresentationFormat>
  <Paragraphs>214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Plamen Trendafilov</cp:lastModifiedBy>
  <cp:revision>1</cp:revision>
  <dcterms:modified xsi:type="dcterms:W3CDTF">2026-04-19T22:25:37Z</dcterms:modified>
</cp:coreProperties>
</file>